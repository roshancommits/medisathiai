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6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6745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8C23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Innovation and Design Thinking-1
</a:t>
            </a:r>
            <a:r>
              <a:rPr lang="en-US" sz="2600" b="1" dirty="0">
                <a:solidFill>
                  <a:srgbClr val="8C23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</a:t>
            </a:r>
            <a:r>
              <a:rPr lang="en-US" sz="2600" b="1" dirty="0">
                <a:solidFill>
                  <a:srgbClr val="8C2331"/>
                </a:solidFill>
                <a:latin typeface="Calibri" panose="020F0502020204030204" pitchFamily="34" charset="0"/>
                <a:ea typeface="Georgia" pitchFamily="34" charset="-122"/>
                <a:cs typeface="Calibri" panose="020F0502020204030204" pitchFamily="34" charset="0"/>
              </a:rPr>
              <a:t>CEM2033C</a:t>
            </a:r>
            <a:r>
              <a:rPr lang="en-US" sz="2600" b="1" dirty="0">
                <a:solidFill>
                  <a:srgbClr val="8C23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
</a:t>
            </a:r>
            <a:endParaRPr lang="en-US" sz="3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8C23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Healthcare &amp; Assistive Technology — </a:t>
            </a:r>
            <a:r>
              <a:rPr lang="en-US" sz="2600" b="1" dirty="0" err="1">
                <a:solidFill>
                  <a:srgbClr val="8C23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MediSathiAI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509760" y="228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286539"/>
            <a:ext cx="12188952" cy="3571461"/>
          </a:xfrm>
          <a:prstGeom prst="rect">
            <a:avLst/>
          </a:prstGeom>
          <a:solidFill>
            <a:srgbClr val="8C2331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3757660"/>
            <a:ext cx="10515600" cy="621792"/>
          </a:xfrm>
          <a:prstGeom prst="rect">
            <a:avLst/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757660"/>
            <a:ext cx="10515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</a:t>
            </a:r>
            <a:r>
              <a:rPr lang="en-GB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HealthTech Innovators</a:t>
            </a:r>
            <a:endParaRPr lang="en-US" sz="1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4518991"/>
            <a:ext cx="10515600" cy="1342313"/>
          </a:xfrm>
          <a:prstGeom prst="rect">
            <a:avLst/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518991"/>
            <a:ext cx="10515600" cy="1342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PARMAR PARTH PRUTHVIRAJSINH                       (2502031800026)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ROSHAN BHAI MODIYA                                           (2502031800031)</a:t>
            </a:r>
            <a:endParaRPr lang="en-US" sz="1600" dirty="0"/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QUADRI MOHMMAD UVAISH ANISH AHEMAD (2502031800022)</a:t>
            </a:r>
            <a:endParaRPr lang="en-US" sz="1600" dirty="0"/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BORSE CHARUL BHAGWAT                                      (2502031800009)</a:t>
            </a:r>
            <a:endParaRPr lang="en-US" sz="1600" dirty="0"/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PANCHAL VAIDEHIBEN MANUBHAI                     (T2602180330018)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5952744"/>
            <a:ext cx="10515600" cy="621792"/>
          </a:xfrm>
          <a:prstGeom prst="rect">
            <a:avLst/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952744"/>
            <a:ext cx="10515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Name: Prof. Kruti Sheth</a:t>
            </a:r>
            <a:endParaRPr lang="en-US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C3B7371-2CBA-FF8C-0E61-FA309DBF5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173736"/>
            <a:ext cx="2286000" cy="6562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C23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Index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256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17-08-2026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96012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Choose this Domain?</a:t>
            </a:r>
            <a:endParaRPr lang="en-US" sz="22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Goal Mapped</a:t>
            </a:r>
            <a:endParaRPr lang="en-US" sz="22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 Current System</a:t>
            </a:r>
            <a:endParaRPr lang="en-US" sz="22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/ Weakness in Current System</a:t>
            </a:r>
            <a:endParaRPr lang="en-US" sz="22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Solution (Short Description)</a:t>
            </a:r>
            <a:endParaRPr lang="en-US" sz="22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Benefits to Target Audience</a:t>
            </a:r>
            <a:endParaRPr lang="en-US" sz="22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49244A-3337-CB50-D723-7934C0DC4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173736"/>
            <a:ext cx="2286000" cy="6562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C23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Choose this Domain?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256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17-08-2026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3327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elderly population (60+) is projected to cross 300 million by 2050 — most manage two or more long-term prescriptions on their own.</a:t>
            </a:r>
            <a:endParaRPr lang="en-US" sz="18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non-adherence in chronic illness (diabetes, hypertension, cardiac care) is a leading cause of preventable hospital readmission.</a:t>
            </a:r>
            <a:endParaRPr lang="en-US" sz="18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reminder apps assume a tech-comfortable, English-reading user — a poor fit for the people who most need the help.</a:t>
            </a:r>
            <a:endParaRPr lang="en-US" sz="18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caregivers are usually not physically present at every dose time and have no reliable way to check in remotely.</a:t>
            </a:r>
            <a:endParaRPr lang="en-US" sz="18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OCR, conversational AI and voice output can turn a handwritten prescription directly into a spoken, elderly-friendly routine — a genuinely underserved gap in HealthTech.</a:t>
            </a:r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C0E4DB-3D0D-65D0-5017-1AA4B6F69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173736"/>
            <a:ext cx="2286000" cy="6562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C23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SDG Goal Mapped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256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17-08-2026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5074920" cy="4206240"/>
          </a:xfrm>
          <a:prstGeom prst="roundRect">
            <a:avLst>
              <a:gd name="adj" fmla="val 2609"/>
            </a:avLst>
          </a:prstGeom>
          <a:solidFill>
            <a:srgbClr val="FBEAEC"/>
          </a:solidFill>
          <a:ln w="12700">
            <a:solidFill>
              <a:srgbClr val="E3D2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1920240"/>
            <a:ext cx="822960" cy="822960"/>
          </a:xfrm>
          <a:prstGeom prst="ellipse">
            <a:avLst/>
          </a:prstGeom>
          <a:solidFill>
            <a:srgbClr val="8C2331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920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88720" y="2880360"/>
            <a:ext cx="4343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8C23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Health &amp; Well-Being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188720" y="3611880"/>
            <a:ext cx="43434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MediSathiAI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directly supports Target 3.4 — reducing premature mortality from non-communicable disease — by improving medication adherence and catching missed doses before they become emergencies.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5074920" cy="4206240"/>
          </a:xfrm>
          <a:prstGeom prst="roundRect">
            <a:avLst>
              <a:gd name="adj" fmla="val 2609"/>
            </a:avLst>
          </a:prstGeom>
          <a:solidFill>
            <a:srgbClr val="FBEAEC"/>
          </a:solidFill>
          <a:ln w="12700">
            <a:solidFill>
              <a:srgbClr val="E3D2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1920240"/>
            <a:ext cx="822960" cy="822960"/>
          </a:xfrm>
          <a:prstGeom prst="ellipse">
            <a:avLst/>
          </a:prstGeom>
          <a:solidFill>
            <a:srgbClr val="8C2331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920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583680" y="2880360"/>
            <a:ext cx="4343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8C23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Reduced Inequalities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583680" y="3611880"/>
            <a:ext cx="43434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Voice-first, regional-language guidance and large elderly-friendly controls extend reliable healthcare support to people who are usually left out of app-based tools: the elderly, low-literacy, and visually impaired.</a:t>
            </a:r>
            <a:endParaRPr lang="en-US" sz="16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18A9366-4C59-48EA-D0FA-B7E6F52E2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173736"/>
            <a:ext cx="2286000" cy="6562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C23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of Current System / Domain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256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17-08-2026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C23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Prescribing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150876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hand-writes or prints a prescription; the patient or a family member manually reads and interprets it.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C23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Reminding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0" y="237744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physical pill box, a paper chart on the fridge, or a family member's memory is the only reminder system.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C23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Refilling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0" y="324612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notice a strip is empty only when they reach for the next dose, then make a separate pharmacy trip.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1148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C23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00400" y="411480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exists of which doses were actually taken — doctors rely on the patient's memory at the next visit.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9834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C23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00400" y="498348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loose, unlabeled pill found at home is usually identified by guesswork or a trip back to the pharmacist.</a:t>
            </a:r>
            <a:endParaRPr lang="en-US" sz="15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EE7E871-D10F-B5DC-B3EE-BC7009E0B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173736"/>
            <a:ext cx="2286000" cy="6562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C23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Problems / Weakness in Current 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256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17-08-2026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55930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patients forget doses as memory naturally declines with age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prescriptions are hard to read, causing dosage errors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rarely account for meal timing (before/after food)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 organizers must be refilled manually, usually by a caregiver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often don't notice stock is low until the strip is empty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Refills mean a separate, avoidable pharmacy visit each time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labels are frequently in a language the patient can't read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Unlabeled loose pills found at home are hard to identify safely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63640" y="1417320"/>
            <a:ext cx="5349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doses are never logged, so there's no adherence history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caregivers have no way to check in on doses remotely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medicines often go unnoticed until it's too late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print on strips is difficult for visually impaired elderly to read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reminder apps assume comfort with text-based smartphone use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at-home adherence contributes to avoidable hospital readmission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single, centralized record of a patient's full medication history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prescriptions from different doctors are rarely cross-checked</a:t>
            </a: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3BBB17-A95F-843A-2435-8DE09D722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173736"/>
            <a:ext cx="2286000" cy="6562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C23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Possible Solution (Short Description)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256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17-08-2026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32588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FBEAEC"/>
          </a:solidFill>
          <a:ln w="9525">
            <a:solidFill>
              <a:srgbClr val="E3D2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3258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C23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Prescription Scanner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86200" y="13258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AI reads a photographed prescription and turns it into a structured schedule — no more misread handwriting.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2267712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FBEAEC"/>
          </a:solidFill>
          <a:ln w="9525">
            <a:solidFill>
              <a:srgbClr val="E3D2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267712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C23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Elderly-Friendly Reminders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86200" y="2267712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touch-target dose confirmations, meal-context timing, and spoken alerts in the patient's own language.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3209544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FBEAEC"/>
          </a:solidFill>
          <a:ln w="9525">
            <a:solidFill>
              <a:srgbClr val="E3D2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209544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C23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Supply Tracker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86200" y="3209544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countdown of remaining tablets with a Second Course Alert before a patient ever runs out.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4151376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FBEAEC"/>
          </a:solidFill>
          <a:ln w="9525">
            <a:solidFill>
              <a:srgbClr val="E3D2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151376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C23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Adherence Log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886200" y="4151376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confirmed or missed dose is recorded, giving doctors and caregivers real visibility, not guesswork.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22960" y="5093208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FBEAEC"/>
          </a:solidFill>
          <a:ln w="9525">
            <a:solidFill>
              <a:srgbClr val="E3D2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509320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C23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Pill Identification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886200" y="5093208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photo of an unlabeled pill returns its name, purpose, dosage guidance and expiry status.</a:t>
            </a:r>
            <a:endParaRPr lang="en-US" sz="13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7B4013D-420C-2E00-3B64-755E41D1C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173736"/>
            <a:ext cx="2286000" cy="6562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72494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C23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and Benefits to Target Audience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256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17-08-2026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926862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C23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Elderly Patients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2475502"/>
            <a:ext cx="3429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independence in managing their own medication</a:t>
            </a: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missed or double doses</a:t>
            </a: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in their own language, spoken aloud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43400" y="1926862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C23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Caregivers &amp; Family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343400" y="2475502"/>
            <a:ext cx="3429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peace of mind without daily check-in calls</a:t>
            </a: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before a medicine runs out</a:t>
            </a: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view of the full schedule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83880" y="1926862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C23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Healthcare System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83880" y="2475502"/>
            <a:ext cx="3429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avoidable hospital readmissions</a:t>
            </a: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Adherence data doctors can actually act on</a:t>
            </a: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SDG 3 &amp; SDG 10 outcomes at scale</a:t>
            </a:r>
            <a:endParaRPr lang="en-US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3F08297-2ED8-6F8B-BE86-08149E879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173736"/>
            <a:ext cx="2286000" cy="6562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59" y="644652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C23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256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17-08-2026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0D029B-9F5F-288D-2CCA-A4635CCF1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173736"/>
            <a:ext cx="2286000" cy="6562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9A5C59E-F2DC-81F3-9935-027A97B89F59}"/>
              </a:ext>
            </a:extLst>
          </p:cNvPr>
          <p:cNvSpPr txBox="1"/>
          <p:nvPr/>
        </p:nvSpPr>
        <p:spPr>
          <a:xfrm>
            <a:off x="822959" y="1670669"/>
            <a:ext cx="6956067" cy="3678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9725" marR="5080" indent="-294640">
              <a:lnSpc>
                <a:spcPct val="132800"/>
              </a:lnSpc>
              <a:spcBef>
                <a:spcPts val="95"/>
              </a:spcBef>
              <a:buFont typeface="Calibri"/>
              <a:buChar char="•"/>
              <a:tabLst>
                <a:tab pos="339725" algn="l"/>
                <a:tab pos="762000" algn="l"/>
              </a:tabLst>
            </a:pPr>
            <a:r>
              <a:rPr lang="en-GB" b="1" spc="-25" dirty="0">
                <a:cs typeface="Calibri"/>
              </a:rPr>
              <a:t>[1]</a:t>
            </a:r>
            <a:r>
              <a:rPr lang="en-GB" b="1" dirty="0">
                <a:cs typeface="Calibri"/>
              </a:rPr>
              <a:t>	</a:t>
            </a:r>
            <a:r>
              <a:rPr lang="en-GB" spc="-10" dirty="0">
                <a:cs typeface="Calibri"/>
              </a:rPr>
              <a:t>World</a:t>
            </a:r>
            <a:r>
              <a:rPr lang="en-GB" spc="-65" dirty="0">
                <a:cs typeface="Calibri"/>
              </a:rPr>
              <a:t> </a:t>
            </a:r>
            <a:r>
              <a:rPr lang="en-GB" dirty="0">
                <a:cs typeface="Calibri"/>
              </a:rPr>
              <a:t>Health</a:t>
            </a:r>
            <a:r>
              <a:rPr lang="en-GB" spc="-45" dirty="0">
                <a:cs typeface="Calibri"/>
              </a:rPr>
              <a:t> </a:t>
            </a:r>
            <a:r>
              <a:rPr lang="en-GB" spc="-10" dirty="0">
                <a:cs typeface="Calibri"/>
              </a:rPr>
              <a:t>Organization</a:t>
            </a:r>
            <a:r>
              <a:rPr lang="en-GB" spc="-65" dirty="0">
                <a:cs typeface="Calibri"/>
              </a:rPr>
              <a:t> </a:t>
            </a:r>
            <a:r>
              <a:rPr lang="en-GB" dirty="0">
                <a:cs typeface="Calibri"/>
              </a:rPr>
              <a:t>(WHO),</a:t>
            </a:r>
            <a:r>
              <a:rPr lang="en-GB" spc="-45" dirty="0">
                <a:cs typeface="Calibri"/>
              </a:rPr>
              <a:t> </a:t>
            </a:r>
            <a:r>
              <a:rPr lang="en-GB" i="1" dirty="0"/>
              <a:t>"Adherence</a:t>
            </a:r>
            <a:r>
              <a:rPr lang="en-GB" i="1" spc="-55" dirty="0"/>
              <a:t> </a:t>
            </a:r>
            <a:r>
              <a:rPr lang="en-GB" i="1" dirty="0"/>
              <a:t>to</a:t>
            </a:r>
            <a:r>
              <a:rPr lang="en-GB" i="1" spc="-60" dirty="0"/>
              <a:t> </a:t>
            </a:r>
            <a:r>
              <a:rPr lang="en-GB" i="1" spc="-10" dirty="0"/>
              <a:t>Long- </a:t>
            </a:r>
            <a:r>
              <a:rPr lang="en-GB" i="1" spc="-25" dirty="0"/>
              <a:t>Term</a:t>
            </a:r>
            <a:r>
              <a:rPr lang="en-GB" i="1" spc="-60" dirty="0"/>
              <a:t> </a:t>
            </a:r>
            <a:r>
              <a:rPr lang="en-GB" i="1" dirty="0"/>
              <a:t>Therapies:</a:t>
            </a:r>
            <a:r>
              <a:rPr lang="en-GB" i="1" spc="-45" dirty="0"/>
              <a:t> </a:t>
            </a:r>
            <a:r>
              <a:rPr lang="en-GB" i="1" dirty="0"/>
              <a:t>Evidence</a:t>
            </a:r>
            <a:r>
              <a:rPr lang="en-GB" i="1" spc="-55" dirty="0"/>
              <a:t> </a:t>
            </a:r>
            <a:r>
              <a:rPr lang="en-GB" i="1" dirty="0"/>
              <a:t>for</a:t>
            </a:r>
            <a:r>
              <a:rPr lang="en-GB" i="1" spc="-60" dirty="0"/>
              <a:t> </a:t>
            </a:r>
            <a:r>
              <a:rPr lang="en-GB" i="1" dirty="0"/>
              <a:t>Action,"</a:t>
            </a:r>
            <a:r>
              <a:rPr lang="en-GB" i="1" spc="-45" dirty="0"/>
              <a:t> </a:t>
            </a:r>
            <a:r>
              <a:rPr lang="en-GB" dirty="0">
                <a:cs typeface="Calibri"/>
              </a:rPr>
              <a:t>WHO</a:t>
            </a:r>
            <a:r>
              <a:rPr lang="en-GB" spc="-55" dirty="0">
                <a:cs typeface="Calibri"/>
              </a:rPr>
              <a:t> </a:t>
            </a:r>
            <a:r>
              <a:rPr lang="en-GB" dirty="0">
                <a:cs typeface="Calibri"/>
              </a:rPr>
              <a:t>Guidelines,</a:t>
            </a:r>
            <a:r>
              <a:rPr lang="en-GB" spc="-45" dirty="0">
                <a:cs typeface="Calibri"/>
              </a:rPr>
              <a:t> </a:t>
            </a:r>
            <a:r>
              <a:rPr lang="en-GB" spc="-10" dirty="0">
                <a:cs typeface="Calibri"/>
              </a:rPr>
              <a:t>2023.</a:t>
            </a:r>
          </a:p>
          <a:p>
            <a:pPr>
              <a:lnSpc>
                <a:spcPct val="100000"/>
              </a:lnSpc>
              <a:spcBef>
                <a:spcPts val="680"/>
              </a:spcBef>
              <a:buFont typeface="Calibri"/>
              <a:buChar char="•"/>
            </a:pPr>
            <a:endParaRPr lang="en-GB" spc="-10" dirty="0">
              <a:cs typeface="Calibri"/>
            </a:endParaRPr>
          </a:p>
          <a:p>
            <a:pPr marL="330835" marR="143510" indent="-285750" algn="just">
              <a:lnSpc>
                <a:spcPct val="133000"/>
              </a:lnSpc>
              <a:buFont typeface="Arial"/>
              <a:buChar char="•"/>
              <a:tabLst>
                <a:tab pos="332105" algn="l"/>
              </a:tabLst>
            </a:pPr>
            <a:r>
              <a:rPr lang="en-GB" dirty="0">
                <a:solidFill>
                  <a:srgbClr val="4A4949"/>
                </a:solidFill>
                <a:cs typeface="Calibri"/>
              </a:rPr>
              <a:t>[2]</a:t>
            </a:r>
            <a:r>
              <a:rPr lang="en-GB" spc="355" dirty="0">
                <a:solidFill>
                  <a:srgbClr val="4A4949"/>
                </a:solidFill>
                <a:cs typeface="Calibri"/>
              </a:rPr>
              <a:t> </a:t>
            </a:r>
            <a:r>
              <a:rPr lang="en-GB" dirty="0">
                <a:cs typeface="Calibri"/>
              </a:rPr>
              <a:t>United</a:t>
            </a:r>
            <a:r>
              <a:rPr lang="en-GB" spc="-10" dirty="0">
                <a:cs typeface="Calibri"/>
              </a:rPr>
              <a:t> </a:t>
            </a:r>
            <a:r>
              <a:rPr lang="en-GB" dirty="0">
                <a:cs typeface="Calibri"/>
              </a:rPr>
              <a:t>Nations</a:t>
            </a:r>
            <a:r>
              <a:rPr lang="en-GB" spc="-25" dirty="0">
                <a:cs typeface="Calibri"/>
              </a:rPr>
              <a:t> </a:t>
            </a:r>
            <a:r>
              <a:rPr lang="en-GB" spc="-10" dirty="0">
                <a:cs typeface="Calibri"/>
              </a:rPr>
              <a:t>Sustainable</a:t>
            </a:r>
            <a:r>
              <a:rPr lang="en-GB" spc="-15" dirty="0">
                <a:cs typeface="Calibri"/>
              </a:rPr>
              <a:t> </a:t>
            </a:r>
            <a:r>
              <a:rPr lang="en-GB" spc="-10" dirty="0">
                <a:cs typeface="Calibri"/>
              </a:rPr>
              <a:t>Development</a:t>
            </a:r>
            <a:r>
              <a:rPr lang="en-GB" spc="-30" dirty="0">
                <a:cs typeface="Calibri"/>
              </a:rPr>
              <a:t> </a:t>
            </a:r>
            <a:r>
              <a:rPr lang="en-GB" dirty="0">
                <a:cs typeface="Calibri"/>
              </a:rPr>
              <a:t>Goals</a:t>
            </a:r>
            <a:r>
              <a:rPr lang="en-GB" spc="-25" dirty="0">
                <a:cs typeface="Calibri"/>
              </a:rPr>
              <a:t> </a:t>
            </a:r>
            <a:r>
              <a:rPr lang="en-GB" spc="-10" dirty="0">
                <a:cs typeface="Calibri"/>
              </a:rPr>
              <a:t>(SDGs), 	</a:t>
            </a:r>
            <a:r>
              <a:rPr lang="en-GB" i="1" dirty="0"/>
              <a:t>"Goal</a:t>
            </a:r>
            <a:r>
              <a:rPr lang="en-GB" i="1" spc="-15" dirty="0"/>
              <a:t> </a:t>
            </a:r>
            <a:r>
              <a:rPr lang="en-GB" i="1" dirty="0"/>
              <a:t>3:</a:t>
            </a:r>
            <a:r>
              <a:rPr lang="en-GB" i="1" spc="-10" dirty="0"/>
              <a:t> </a:t>
            </a:r>
            <a:r>
              <a:rPr lang="en-GB" i="1" dirty="0"/>
              <a:t>Good</a:t>
            </a:r>
            <a:r>
              <a:rPr lang="en-GB" i="1" spc="-10" dirty="0"/>
              <a:t> </a:t>
            </a:r>
            <a:r>
              <a:rPr lang="en-GB" i="1" dirty="0"/>
              <a:t>Health</a:t>
            </a:r>
            <a:r>
              <a:rPr lang="en-GB" i="1" spc="-10" dirty="0"/>
              <a:t> </a:t>
            </a:r>
            <a:r>
              <a:rPr lang="en-GB" i="1" dirty="0"/>
              <a:t>and</a:t>
            </a:r>
            <a:r>
              <a:rPr lang="en-GB" i="1" spc="-5" dirty="0"/>
              <a:t> </a:t>
            </a:r>
            <a:r>
              <a:rPr lang="en-GB" i="1" spc="-25" dirty="0"/>
              <a:t>Well-</a:t>
            </a:r>
            <a:r>
              <a:rPr lang="en-GB" i="1" dirty="0"/>
              <a:t>Being</a:t>
            </a:r>
            <a:r>
              <a:rPr lang="en-GB" i="1" spc="-25" dirty="0"/>
              <a:t> </a:t>
            </a:r>
            <a:r>
              <a:rPr lang="en-GB" i="1" dirty="0"/>
              <a:t>&amp;</a:t>
            </a:r>
            <a:r>
              <a:rPr lang="en-GB" i="1" spc="-25" dirty="0"/>
              <a:t> </a:t>
            </a:r>
            <a:r>
              <a:rPr lang="en-GB" i="1" dirty="0"/>
              <a:t>Goal</a:t>
            </a:r>
            <a:r>
              <a:rPr lang="en-GB" i="1" spc="-10" dirty="0"/>
              <a:t> </a:t>
            </a:r>
            <a:r>
              <a:rPr lang="en-GB" i="1" dirty="0"/>
              <a:t>9:</a:t>
            </a:r>
            <a:r>
              <a:rPr lang="en-GB" i="1" spc="-10" dirty="0"/>
              <a:t> Innovation,“ 	</a:t>
            </a:r>
            <a:r>
              <a:rPr lang="en-GB" dirty="0">
                <a:cs typeface="Calibri"/>
              </a:rPr>
              <a:t>UN</a:t>
            </a:r>
            <a:r>
              <a:rPr lang="en-GB" spc="-50" dirty="0">
                <a:cs typeface="Calibri"/>
              </a:rPr>
              <a:t> </a:t>
            </a:r>
            <a:r>
              <a:rPr lang="en-GB" dirty="0">
                <a:cs typeface="Calibri"/>
              </a:rPr>
              <a:t>Guidelines,</a:t>
            </a:r>
            <a:r>
              <a:rPr lang="en-GB" spc="-30" dirty="0">
                <a:cs typeface="Calibri"/>
              </a:rPr>
              <a:t> </a:t>
            </a:r>
            <a:r>
              <a:rPr lang="en-GB" spc="-10" dirty="0">
                <a:cs typeface="Calibri"/>
              </a:rPr>
              <a:t>2023</a:t>
            </a:r>
            <a:r>
              <a:rPr lang="en-GB" sz="1600" spc="-10" dirty="0">
                <a:cs typeface="Calibri"/>
              </a:rPr>
              <a:t>.</a:t>
            </a:r>
            <a:endParaRPr lang="en-GB" sz="1600" dirty="0">
              <a:cs typeface="Calibri"/>
            </a:endParaRPr>
          </a:p>
          <a:p>
            <a:pPr marL="299085" marR="8890" indent="-287020">
              <a:lnSpc>
                <a:spcPct val="100499"/>
              </a:lnSpc>
              <a:spcBef>
                <a:spcPts val="2070"/>
              </a:spcBef>
              <a:buFont typeface="Arial"/>
              <a:buChar char="•"/>
              <a:tabLst>
                <a:tab pos="299085" algn="l"/>
              </a:tabLst>
            </a:pPr>
            <a:r>
              <a:rPr lang="en-GB" dirty="0">
                <a:cs typeface="Calibri"/>
              </a:rPr>
              <a:t>[3]</a:t>
            </a:r>
            <a:r>
              <a:rPr lang="en-GB" spc="-45" dirty="0">
                <a:cs typeface="Calibri"/>
              </a:rPr>
              <a:t> </a:t>
            </a:r>
            <a:r>
              <a:rPr lang="en-GB" dirty="0">
                <a:cs typeface="Calibri"/>
              </a:rPr>
              <a:t>Journal</a:t>
            </a:r>
            <a:r>
              <a:rPr lang="en-GB" spc="-40" dirty="0">
                <a:cs typeface="Calibri"/>
              </a:rPr>
              <a:t> </a:t>
            </a:r>
            <a:r>
              <a:rPr lang="en-GB" dirty="0">
                <a:cs typeface="Calibri"/>
              </a:rPr>
              <a:t>of</a:t>
            </a:r>
            <a:r>
              <a:rPr lang="en-GB" spc="-30" dirty="0">
                <a:cs typeface="Calibri"/>
              </a:rPr>
              <a:t> </a:t>
            </a:r>
            <a:r>
              <a:rPr lang="en-GB" dirty="0">
                <a:cs typeface="Calibri"/>
              </a:rPr>
              <a:t>Medical</a:t>
            </a:r>
            <a:r>
              <a:rPr lang="en-GB" spc="-35" dirty="0">
                <a:cs typeface="Calibri"/>
              </a:rPr>
              <a:t> </a:t>
            </a:r>
            <a:r>
              <a:rPr lang="en-GB" dirty="0">
                <a:cs typeface="Calibri"/>
              </a:rPr>
              <a:t>Internet</a:t>
            </a:r>
            <a:r>
              <a:rPr lang="en-GB" spc="-40" dirty="0">
                <a:cs typeface="Calibri"/>
              </a:rPr>
              <a:t> </a:t>
            </a:r>
            <a:r>
              <a:rPr lang="en-GB" spc="-10" dirty="0">
                <a:cs typeface="Calibri"/>
              </a:rPr>
              <a:t>Research</a:t>
            </a:r>
            <a:r>
              <a:rPr lang="en-GB" spc="-45" dirty="0">
                <a:cs typeface="Calibri"/>
              </a:rPr>
              <a:t> </a:t>
            </a:r>
            <a:r>
              <a:rPr lang="en-GB" dirty="0">
                <a:cs typeface="Calibri"/>
              </a:rPr>
              <a:t>(JMIR),</a:t>
            </a:r>
            <a:r>
              <a:rPr lang="en-GB" spc="-10" dirty="0">
                <a:cs typeface="Calibri"/>
              </a:rPr>
              <a:t> </a:t>
            </a:r>
            <a:r>
              <a:rPr lang="en-GB" i="1" spc="-10" dirty="0"/>
              <a:t>"Artificial Intelligence</a:t>
            </a:r>
            <a:r>
              <a:rPr lang="en-GB" i="1" spc="-25" dirty="0"/>
              <a:t> </a:t>
            </a:r>
            <a:r>
              <a:rPr lang="en-GB" i="1" dirty="0"/>
              <a:t>Applications</a:t>
            </a:r>
            <a:r>
              <a:rPr lang="en-GB" i="1" spc="-5" dirty="0"/>
              <a:t> </a:t>
            </a:r>
            <a:r>
              <a:rPr lang="en-GB" i="1" dirty="0"/>
              <a:t>in</a:t>
            </a:r>
            <a:r>
              <a:rPr lang="en-GB" i="1" spc="-40" dirty="0"/>
              <a:t> </a:t>
            </a:r>
            <a:r>
              <a:rPr lang="en-GB" i="1" dirty="0"/>
              <a:t>Chronic</a:t>
            </a:r>
            <a:r>
              <a:rPr lang="en-GB" i="1" spc="-20" dirty="0"/>
              <a:t> </a:t>
            </a:r>
            <a:r>
              <a:rPr lang="en-GB" i="1" dirty="0"/>
              <a:t>Disease</a:t>
            </a:r>
            <a:r>
              <a:rPr lang="en-GB" i="1" spc="-10" dirty="0"/>
              <a:t> Management</a:t>
            </a:r>
            <a:r>
              <a:rPr lang="en-GB" i="1" spc="-40" dirty="0"/>
              <a:t> </a:t>
            </a:r>
            <a:r>
              <a:rPr lang="en-GB" i="1" spc="-25" dirty="0"/>
              <a:t>and </a:t>
            </a:r>
            <a:r>
              <a:rPr lang="en-GB" i="1" dirty="0"/>
              <a:t>Prescription</a:t>
            </a:r>
            <a:r>
              <a:rPr lang="en-GB" i="1" spc="-60" dirty="0"/>
              <a:t> </a:t>
            </a:r>
            <a:r>
              <a:rPr lang="en-GB" i="1" dirty="0"/>
              <a:t>Parsing,"</a:t>
            </a:r>
            <a:r>
              <a:rPr lang="en-GB" i="1" spc="-70" dirty="0"/>
              <a:t> </a:t>
            </a:r>
            <a:r>
              <a:rPr lang="en-GB" spc="-10" dirty="0">
                <a:cs typeface="Calibri"/>
              </a:rPr>
              <a:t>2024.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8C23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509760" y="228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17-08-2026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8A33F4-0D47-DC42-E4AF-991650348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173736"/>
            <a:ext cx="2286000" cy="6562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957</TotalTime>
  <Words>870</Words>
  <Application>Microsoft Office PowerPoint</Application>
  <PresentationFormat>Widescreen</PresentationFormat>
  <Paragraphs>116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rb9491172@gmail.com</cp:lastModifiedBy>
  <cp:revision>5</cp:revision>
  <dcterms:created xsi:type="dcterms:W3CDTF">2026-08-17T10:20:21Z</dcterms:created>
  <dcterms:modified xsi:type="dcterms:W3CDTF">2026-08-26T06:42:13Z</dcterms:modified>
</cp:coreProperties>
</file>